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à chaque phase de vol correspond une échelle de carte. La JNC est la carte militaire au 1:2 000 000, conçue pour la navigation longue distance à haute altitude. Annoncer le plan : famille de cartes, identité/finalité, échelle, projection de Lambert, contenu, statut actuel.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plan en 6 temps. Insister sur la logique : on situe la carte, on la décrit, puis on creuse les deux notions d'examen (échelle et projection), avant le contenu et le statut.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: une seule logique, l'échelle suit la mission. La JNC est le cran « long-courrier haute altitude », entre la GNC de planification et l'ONC de navigation radar. Plus on descend, plus le détail augmente mais plus la couverture diminue.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 d'identité en 4 chiffres-clés. Préciser la chaîne de producteurs : Defense Mapping Agency, puis NIMA, puis NGA aujourd'hui. C'est un fond topographique (relief, hydrographie) sur lequel on ajoute l'aéronautique. Toutes les feuilles sont en anglais — standardisation OTAN/militaire.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la JNC est née d'un besoin militaire stratégique (avions rapides, longues distances, haute altitude). Elle est pensée pour plusieurs méthodes de navigation simultanées : estime, radar, astro. D'où le choix d'une petite échelle qui montre beaucoup de territoire.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calcul au tableau si possible : 1 cm carte → 2 000 000 cm = 20 km → divisé par 1 852 m = 10,8 NM. Donner le repère pratique 1 cm ≈ 10,8 NM. Mentionner la conversion en pouces (cartes d'origine anglo-saxonne) : 1 inch ≈ 27,4 NM.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direct échelle ↔ usage : petite échelle = compromis. On gagne en couverture ce qu'on perd en détail. C'est pour cela qu'on descend vers l'ONC/TPC quand on a besoin de finesse à basse altitude.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métaphore du cône posé sur le globe. Version sécante : le cône traverse la sphère et la touche selon DEUX parallèles standards, où l'échelle est exacte. Entre les deux, l'échelle est légèrement contractée ; au-delà, elle se dilate. Conforme = les angles/formes locales sont respectés, essentiel pour mesurer des caps.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propriétés à retenir pour l'examen ATPL. La formule de convergence est tombée maintes fois : Δlongitude × sinus du parallèle d'origine, ce qui est aussi Δlong × n (constante du cône). Point fort : la convergence est CONSTANTE partout, car les méridiens sont des droites.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grand intérêt de la carte de Lambert : on trace l'orthodromie (plus court chemin) directement à la règle, comme une droite. La loxodromie, elle, est courbe et se situe côté équateur. Avant l'INS/GPS, les équipages volaient des loxodromies (cap constant) ; aujourd'hui la droite ≈ orthodromie facilite le routage.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projection : la JNC est long-courrier, haute altitude, grande couverture — exactement le terrain de jeu où Lambert excelle. Boucler : faible distorsion + orthodromie droite + échelle constante + conformité = la projection naturelle de cette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JNC superpose un fond topographique et une couche aéronautique. Détailler les 5 techniques de relief : courbes de niveau, estompage (ombrage), teintes hypsométriques (du vert en plaine au brun/gris en altitude), points cotés, et MEF (Maximum Elevation Figure = altitude max d'un carroyage, marge de sécurité incluse).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Statut : la série n'est plus produite. Elle a été numérisée/archivée et l'usage opérationnel est passé au numérique. Conclure sur la valeur pédagogique : pour l'ATPL, c'est un cas d'école parfait pour parler échelle + projection + relief.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en 3 temps : (1) l'échelle est un compromis couverture/détail ; (2) Lambert est la projection adaptée — orthodromie droite, convergence constante ; (3) la JNC est un maillon d'une chaîne d'échelles. Inviter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principales. Vérifier auprès de l'instructeur si le polycopié vise un document franco-spécifique ; sinon la JNC est bien la carte militaire de référence au 1:2 000 000.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-457200"/>
            <a:ext cx="-384048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-457200"/>
            <a:ext cx="-256032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-457200"/>
            <a:ext cx="-128016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-457200"/>
            <a:ext cx="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-457200"/>
            <a:ext cx="128016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-457200"/>
            <a:ext cx="256032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-457200"/>
            <a:ext cx="3840480" cy="7315200"/>
          </a:xfrm>
          <a:prstGeom prst="line">
            <a:avLst/>
          </a:prstGeom>
          <a:noFill/>
          <a:ln w="12700">
            <a:solidFill>
              <a:srgbClr val="1C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041648"/>
            <a:ext cx="40233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AÉRONAUTIQUE  •  ATPL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1:2 000 000 militaire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 Navigation Chart (JNC)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Échelle, projection de Lambert et emploi en navigation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5564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famille des cartes militaires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GNC, JNC, ONC, TPC — une échelle par usage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57860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&amp; finalité de la JNC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Producteur, couverture, mission opérationnelle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40156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L'échelle 1:2 000 000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Signification, conversions, avantages / limites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22452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projection de Lambert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4160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Cône sécant, propriétés, orthodromie / loxodromie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89204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" y="504748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&amp; symbologie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09360" y="49834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Relief, teintes hypsométriques, surcouche aéronautique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5840" y="5870448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870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00200" y="5806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actuel &amp; synthèse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309360" y="5806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Numérisation, points clés pour l'examen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LA CARTE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famille des cartes militaires de défense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8412480" cy="932688"/>
          </a:xfrm>
          <a:prstGeom prst="roundRect">
            <a:avLst>
              <a:gd name="adj" fmla="val 6863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928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97480" y="18928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1:5 000 000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0" y="189280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stratégique, vue d'ensemble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62072"/>
            <a:ext cx="8412480" cy="932688"/>
          </a:xfrm>
          <a:prstGeom prst="roundRect">
            <a:avLst>
              <a:gd name="adj" fmla="val 6863"/>
            </a:avLst>
          </a:prstGeom>
          <a:solidFill>
            <a:srgbClr val="0B2545"/>
          </a:solidFill>
          <a:ln w="3175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9718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29718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1:2 000 000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9718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longue distance, haute altitude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941064"/>
            <a:ext cx="8412480" cy="932688"/>
          </a:xfrm>
          <a:prstGeom prst="roundRect">
            <a:avLst>
              <a:gd name="adj" fmla="val 6863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050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97480" y="40507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1:1 000 000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0" y="405079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radar, moyenne altitude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020056"/>
            <a:ext cx="8412480" cy="932688"/>
          </a:xfrm>
          <a:prstGeom prst="roundRect">
            <a:avLst>
              <a:gd name="adj" fmla="val 6863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12978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TPC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97480" y="51297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1:500 000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29200" y="5129784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tactique à basse altitude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1920240"/>
            <a:ext cx="0" cy="416052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829800" y="1828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 échelle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couverture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de détail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5074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échelle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 couverture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beaucoup de détail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familles de cartes de défense (FAA AIM ch. 9 / AIP GEN 3.2 ; Omnimap / East View Cartographic).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D'IDENTITÉ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la JNC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240280" cy="1691640"/>
          </a:xfrm>
          <a:prstGeom prst="roundRect">
            <a:avLst>
              <a:gd name="adj" fmla="val 43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1:2 000 000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32688" y="278892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1783080"/>
            <a:ext cx="2240280" cy="1691640"/>
          </a:xfrm>
          <a:prstGeom prst="roundRect">
            <a:avLst>
              <a:gd name="adj" fmla="val 43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328416" y="278892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Feuilles (couverture mondiale)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14416" y="1783080"/>
            <a:ext cx="2240280" cy="1691640"/>
          </a:xfrm>
          <a:prstGeom prst="roundRect">
            <a:avLst>
              <a:gd name="adj" fmla="val 43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05856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724144" y="278892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conique conforme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1783080"/>
            <a:ext cx="2240280" cy="1691640"/>
          </a:xfrm>
          <a:prstGeom prst="roundRect">
            <a:avLst>
              <a:gd name="adj" fmla="val 43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01584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19872" y="278892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Producteur (ex-DMA / NIMA)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b="1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topographique surchargée d'informations aéronautiques</a:t>
            </a:r>
            <a:endParaRPr lang="en-US" sz="14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Feuilles en anglais ; carte d'origine américaine (agences cartographiques de défense)</a:t>
            </a:r>
            <a:endParaRPr lang="en-US" sz="1450" dirty="0"/>
          </a:p>
        </p:txBody>
      </p:sp>
      <p:pic>
        <p:nvPicPr>
          <p:cNvPr id="19" name="Image 0" descr="À remplacer par un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703320"/>
            <a:ext cx="3931920" cy="22402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60920" y="46405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L'IMAGE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60920" y="6007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réel d'une feuille JNC.  </a:t>
            </a:r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image « Jet Navigation Chart JNC » ; sources NGA / East View, ou catalogues NYU, MIT, Stanford.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NGA / NYU Spatial Data Repository &amp; MIT GeoData (fiche série JNC).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QUOI ELLE SERT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mission opérationnelle de la JNC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 altitude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Conçue pour les aéronefs rapides volant haut, sur de longues distances.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Longue distance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 échelle = grande portion de route visible d'un coup d'œil.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combinée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21040" y="3703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l'estime, de la navigation radar et de la navigation astronomique.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212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6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Navigation/bombardement radar à haute altitude, assistés par calculateur, pour les avions stratégiques » — finalité d'origine de la série.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NGA / NOAA Central Library (description de la finalité de la série JNC).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L'ÉCHELLE 1:2 000 000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représente l'échelle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unité sur la carte = 2 000 000 d'unités sur le terrain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la carte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515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sur le terrain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km   </a:t>
            </a:r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 NM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453128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la carte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6008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inch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36008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sur le terrain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50,8 km   </a:t>
            </a:r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 NM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037576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0456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la carte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0456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0456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sur le terrain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0456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1 852 m   </a:t>
            </a:r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0,93 mm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68680" y="4434840"/>
            <a:ext cx="10469880" cy="1371600"/>
          </a:xfrm>
          <a:prstGeom prst="roundRect">
            <a:avLst>
              <a:gd name="adj" fmla="val 4667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 mental  </a:t>
            </a:r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cm ≈ 10,8 NM. Pour mesurer une distance, on relève les centimètres et on multiplie par ~10,8.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 </a:t>
            </a:r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cm × 2 000 000 = 20 000 m = 20 km ; 20 000 ÷ 1 852 = 10,8 NM.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L'ÉCHELLE 1:2 000 000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 échelle : avantages et limites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CF6EF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couverture sur une seule feuille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idéale pour le tracé long-courrier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feuilles à manipuler pour un long trajet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Adaptée à la haute altitude et aux vitesses élevées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BEDEC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de détail au sol (faible résolution graphique)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Inadaptée à la navigation à vue fine / basse altitude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Petits reliefs et obstacles peu lisibles</a:t>
            </a:r>
            <a:endParaRPr lang="en-US" sz="145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de mesure limitée (1 NM ≈ 0,93 mm)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DE LAMBERT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: un cône sécant conforme</a:t>
            </a:r>
            <a:endParaRPr lang="en-US" sz="3000" dirty="0"/>
          </a:p>
        </p:txBody>
      </p:sp>
      <p:pic>
        <p:nvPicPr>
          <p:cNvPr id="6" name="Image 0" descr="img/c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5836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965960"/>
            <a:ext cx="4114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Cône sécant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coupe le globe selon deux parallèles standards.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(orthomorphique)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angles sont conservés : les routes sont mesurées fidèlement.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Parallèle d'origine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mi-chemin des deux parallèles standards ; échelle minimale.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Lambert Conformal Conic projection (référentiel cartographique aéronautique).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DE LAMBERT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clés pour la navigation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949440" cy="914400"/>
          </a:xfrm>
          <a:prstGeom prst="roundRect">
            <a:avLst>
              <a:gd name="adj" fmla="val 7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Méridiens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71800" y="1874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droites convergeant vers le pôle.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6949440" cy="914400"/>
          </a:xfrm>
          <a:prstGeom prst="roundRect">
            <a:avLst>
              <a:gd name="adj" fmla="val 7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Parallèles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de cercles concentriques centrés sur le pôle.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6949440" cy="914400"/>
          </a:xfrm>
          <a:prstGeom prst="roundRect">
            <a:avLst>
              <a:gd name="adj" fmla="val 7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977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3977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Exacte aux parallèles standards, minimale entre eux, dilatée au-delà — quasi constante en pratique.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6949440" cy="914400"/>
          </a:xfrm>
          <a:prstGeom prst="roundRect">
            <a:avLst>
              <a:gd name="adj" fmla="val 7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 sur toute la carte.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291840" cy="406908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de carte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Δlong × sin(φ origine)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Δlong × 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constante du cône = sin(parallèle d'origine)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4617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D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rectitude de l'orthodromie augmente quand les parallèles standards sont proches.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DE LAMBERT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Orthodromie vs loxodromie</a:t>
            </a:r>
            <a:endParaRPr lang="en-US" sz="3000" dirty="0"/>
          </a:p>
        </p:txBody>
      </p:sp>
      <p:pic>
        <p:nvPicPr>
          <p:cNvPr id="6" name="Image 0" descr="img/gcr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7665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201168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Orthodromie (grand cercle)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court chemin. Sur une carte de Lambert, elle est assimilée à une ligne droite (techniquement très légèrement concave vers le parallèle d'origine).</a:t>
            </a:r>
            <a:endParaRPr lang="en-US" sz="15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Loxodromie (rhumb line)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à cap constant. C'est une courbe concave vers le pôle, située côté équateur par rapport à l'orthodromie.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DE LAMBERT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choix pour cette carte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15600" cy="987552"/>
          </a:xfrm>
          <a:prstGeom prst="roundRect">
            <a:avLst>
              <a:gd name="adj" fmla="val 6481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482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892808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distorsion sur de grandes surfaces   </a:t>
            </a:r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Aux latitudes moyennes, la double tangence limite les déformations — idéal pour une carte couvrant beaucoup de territoire.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515600" cy="987552"/>
          </a:xfrm>
          <a:prstGeom prst="roundRect">
            <a:avLst>
              <a:gd name="adj" fmla="val 6481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314553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990088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Orthodromie ≈ ligne droite   </a:t>
            </a:r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plus court chemin se trace à la règle : routage long-courrier rapide et fiable.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10515600" cy="987552"/>
          </a:xfrm>
          <a:prstGeom prst="roundRect">
            <a:avLst>
              <a:gd name="adj" fmla="val 6481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4281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087368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 quasi constante   </a:t>
            </a:r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Mesures de distance homogènes sur toute la feuille.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074920"/>
            <a:ext cx="10515600" cy="987552"/>
          </a:xfrm>
          <a:prstGeom prst="roundRect">
            <a:avLst>
              <a:gd name="adj" fmla="val 6481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5340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184648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fidèles (conforme)   </a:t>
            </a:r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Les angles sont respectés : relèvements et routes mesurés sans biais de forme.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&amp; SYMBOLOGIE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l'on lit sur la carte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topographique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Relief, hydrographie, agglomérations, voies de communication.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Surcouche aéronautique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Aides radio, terrains, espaces et zones particulières.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 représenté par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de niveau, estompage, teintes hypsométriques, points cotés et MEF (altitude maximale d'une zone).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Teintes hypsométriques (exemple)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914400" cy="384048"/>
          </a:xfrm>
          <a:prstGeom prst="rect">
            <a:avLst/>
          </a:prstGeom>
          <a:solidFill>
            <a:srgbClr val="3C6E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500 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5074920"/>
            <a:ext cx="914400" cy="384048"/>
          </a:xfrm>
          <a:prstGeom prst="rect">
            <a:avLst/>
          </a:prstGeom>
          <a:solidFill>
            <a:srgbClr val="6E9C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– 1000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5074920"/>
            <a:ext cx="914400" cy="384048"/>
          </a:xfrm>
          <a:prstGeom prst="rect">
            <a:avLst/>
          </a:prstGeom>
          <a:solidFill>
            <a:srgbClr val="C7B6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– 2000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5074920"/>
            <a:ext cx="914400" cy="384048"/>
          </a:xfrm>
          <a:prstGeom prst="rect">
            <a:avLst/>
          </a:prstGeom>
          <a:solidFill>
            <a:srgbClr val="B98A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– 3000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5074920"/>
            <a:ext cx="914400" cy="384048"/>
          </a:xfrm>
          <a:prstGeom prst="rect">
            <a:avLst/>
          </a:prstGeom>
          <a:solidFill>
            <a:srgbClr val="8C62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3000 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5074920"/>
            <a:ext cx="91440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neiges</a:t>
            </a:r>
            <a:endParaRPr lang="en-US" sz="900" dirty="0"/>
          </a:p>
        </p:txBody>
      </p:sp>
      <p:pic>
        <p:nvPicPr>
          <p:cNvPr id="20" name="Image 0" descr="À remplacer par un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83080"/>
            <a:ext cx="4434840" cy="3108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0372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L'IMAGE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03720" y="49560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JNC : relief + symboles.  </a:t>
            </a:r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« JNC chart extract relief » ; ou extrait FAA Aeronautical Chart User's Guide pour la symbologie type.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FAA Aeronautical Chart User's Guide (techniques de représentation du relief : courbes, estompage, teintes, MEF).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ACTUEL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JNC aujourd'hui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984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abandonnée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4963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séries GNC et JNC ne sont plus produites ni rééditées par le gouvernement américain.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84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Numérisée &amp; archivée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4963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Feuilles numérisées et géoréférencées (East View Cartographic) ; conservées par des bibliothèques de recherche.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087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Remplacée en pratique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45994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L'emploi est passé aux produits numériques et aux moving-maps embarquées.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FF3F7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087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pédagogique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5994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 une excellente illustration des notions d'échelle, de projection et de représentation du relief.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Omnimap / East View Cartographic (séries GNC et JNC abandonnées par le gouvernement américain).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-457200"/>
            <a:ext cx="-384048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-457200"/>
            <a:ext cx="-256032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-457200"/>
            <a:ext cx="-128016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-457200"/>
            <a:ext cx="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-457200"/>
            <a:ext cx="128016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-457200"/>
            <a:ext cx="256032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-457200"/>
            <a:ext cx="3840480" cy="7315200"/>
          </a:xfrm>
          <a:prstGeom prst="line">
            <a:avLst/>
          </a:prstGeom>
          <a:noFill/>
          <a:ln w="12700">
            <a:solidFill>
              <a:srgbClr val="163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messages clés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210312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L'échelle est un compromis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1:2 000 000 (1 cm ≈ 10,8 NM) : grande couverture, peu de détail — pour le long-courrier à haute altitude.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28800" y="352044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 = la projection naturelle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Orthodromie ≈ droite, convergence constante, échelle quasi constante, conforme.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49834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493776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maillon de la chaîne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GNC (planification) à la TPC (tactique), la JNC occupe le niveau « navigation longue distance ».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475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0700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 — NYU Spatial Data Repository &amp; MIT GeoData : fiche de la série Jet Navigation Chart (échelle, ~111 feuilles, projection Lambert, producteur, finalité).</a:t>
            </a:r>
            <a:endParaRPr lang="en-US" sz="15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— AIM chapitre 9 / AIP GEN 3.2 : liste officielle des cartes de défense (TPC, ONC, GNC, JNC, JNU…).</a:t>
            </a:r>
            <a:endParaRPr lang="en-US" sz="15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Omnimap / East View Cartographic : échelles de la famille de cartes et statut (séries GNC/JNC abandonnées).</a:t>
            </a:r>
            <a:endParaRPr lang="en-US" sz="15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— Aeronautical Chart User's Guide : techniques de représentation du relief (courbes, estompage, teintes hypsométriques, MEF).</a:t>
            </a:r>
            <a:endParaRPr lang="en-US" sz="15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 Conformal Conic projection (Wikipedia / référentiels ATPL) : propriétés de la projection conique conforme.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 1:2 000 000 militaire (JNC)</dc:title>
  <dc:subject>PptxGenJS Presentation</dc:subject>
  <dc:creator>ATPL - Navigation</dc:creator>
  <cp:lastModifiedBy>ATPL - Navigation</cp:lastModifiedBy>
  <cp:revision>1</cp:revision>
  <dcterms:created xsi:type="dcterms:W3CDTF">2026-06-09T14:07:38Z</dcterms:created>
  <dcterms:modified xsi:type="dcterms:W3CDTF">2026-06-09T14:07:38Z</dcterms:modified>
</cp:coreProperties>
</file>